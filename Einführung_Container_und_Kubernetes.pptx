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Einführung in Container &amp; Kubernetes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Von Bare Metal &amp; VMs zu Containern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Betrieb unserer Kernanwendunge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Betrieb unserer Kernanwendungen</a:t>
            </a:r>
          </a:p>
        </p:txBody>
      </p:sp>
      <p:sp>
        <p:nvSpPr>
          <p:cNvPr id="98" name="Vertrag…"/>
          <p:cNvSpPr/>
          <p:nvPr/>
        </p:nvSpPr>
        <p:spPr>
          <a:xfrm>
            <a:off x="1091706" y="1626216"/>
            <a:ext cx="1270001" cy="12700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algn="ctr"/>
            <a:r>
              <a:t>Vertrag</a:t>
            </a:r>
          </a:p>
          <a:p>
            <a:pPr algn="ctr"/>
            <a:r>
              <a:t>(Wildfly)</a:t>
            </a:r>
          </a:p>
        </p:txBody>
      </p:sp>
      <p:sp>
        <p:nvSpPr>
          <p:cNvPr id="99" name="Schaden…"/>
          <p:cNvSpPr/>
          <p:nvPr/>
        </p:nvSpPr>
        <p:spPr>
          <a:xfrm>
            <a:off x="2879060" y="1626216"/>
            <a:ext cx="1270001" cy="12700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algn="ctr"/>
            <a:r>
              <a:t>Schaden</a:t>
            </a:r>
          </a:p>
          <a:p>
            <a:pPr algn="ctr"/>
            <a:r>
              <a:t>(Wildfly)</a:t>
            </a:r>
          </a:p>
        </p:txBody>
      </p:sp>
      <p:sp>
        <p:nvSpPr>
          <p:cNvPr id="100" name="Partner…"/>
          <p:cNvSpPr/>
          <p:nvPr/>
        </p:nvSpPr>
        <p:spPr>
          <a:xfrm>
            <a:off x="4666414" y="1626216"/>
            <a:ext cx="1270001" cy="12700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algn="ctr"/>
            <a:r>
              <a:t>Partner</a:t>
            </a:r>
          </a:p>
          <a:p>
            <a:pPr algn="ctr"/>
            <a:r>
              <a:t>(Wildfly)</a:t>
            </a:r>
          </a:p>
        </p:txBody>
      </p:sp>
      <p:sp>
        <p:nvSpPr>
          <p:cNvPr id="101" name="EWC…"/>
          <p:cNvSpPr/>
          <p:nvPr/>
        </p:nvSpPr>
        <p:spPr>
          <a:xfrm>
            <a:off x="6453768" y="1626216"/>
            <a:ext cx="1270001" cy="12700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algn="ctr"/>
            <a:r>
              <a:t>EWC</a:t>
            </a:r>
          </a:p>
          <a:p>
            <a:pPr algn="ctr"/>
            <a:r>
              <a:t>(Tomcat)</a:t>
            </a:r>
          </a:p>
        </p:txBody>
      </p:sp>
      <p:sp>
        <p:nvSpPr>
          <p:cNvPr id="102" name="Computer"/>
          <p:cNvSpPr/>
          <p:nvPr/>
        </p:nvSpPr>
        <p:spPr>
          <a:xfrm>
            <a:off x="3503282" y="4298496"/>
            <a:ext cx="2137436" cy="17248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5" h="21600" fill="norm" stroke="1" extrusionOk="0">
                <a:moveTo>
                  <a:pt x="464" y="0"/>
                </a:moveTo>
                <a:cubicBezTo>
                  <a:pt x="210" y="0"/>
                  <a:pt x="0" y="261"/>
                  <a:pt x="0" y="575"/>
                </a:cubicBezTo>
                <a:lnTo>
                  <a:pt x="0" y="17777"/>
                </a:lnTo>
                <a:cubicBezTo>
                  <a:pt x="0" y="18091"/>
                  <a:pt x="210" y="18354"/>
                  <a:pt x="464" y="18354"/>
                </a:cubicBezTo>
                <a:lnTo>
                  <a:pt x="9148" y="18354"/>
                </a:lnTo>
                <a:lnTo>
                  <a:pt x="9116" y="18513"/>
                </a:lnTo>
                <a:lnTo>
                  <a:pt x="8753" y="20763"/>
                </a:lnTo>
                <a:lnTo>
                  <a:pt x="7690" y="20763"/>
                </a:lnTo>
                <a:lnTo>
                  <a:pt x="7690" y="21600"/>
                </a:lnTo>
                <a:lnTo>
                  <a:pt x="10486" y="21600"/>
                </a:lnTo>
                <a:lnTo>
                  <a:pt x="11107" y="21600"/>
                </a:lnTo>
                <a:lnTo>
                  <a:pt x="13905" y="21600"/>
                </a:lnTo>
                <a:lnTo>
                  <a:pt x="13905" y="20763"/>
                </a:lnTo>
                <a:lnTo>
                  <a:pt x="12842" y="20763"/>
                </a:lnTo>
                <a:lnTo>
                  <a:pt x="12479" y="18513"/>
                </a:lnTo>
                <a:lnTo>
                  <a:pt x="12452" y="18354"/>
                </a:lnTo>
                <a:lnTo>
                  <a:pt x="21131" y="18354"/>
                </a:lnTo>
                <a:cubicBezTo>
                  <a:pt x="21384" y="18354"/>
                  <a:pt x="21595" y="18091"/>
                  <a:pt x="21595" y="17777"/>
                </a:cubicBezTo>
                <a:lnTo>
                  <a:pt x="21595" y="575"/>
                </a:lnTo>
                <a:cubicBezTo>
                  <a:pt x="21600" y="261"/>
                  <a:pt x="21389" y="0"/>
                  <a:pt x="21136" y="0"/>
                </a:cubicBezTo>
                <a:lnTo>
                  <a:pt x="464" y="0"/>
                </a:lnTo>
                <a:close/>
                <a:moveTo>
                  <a:pt x="10800" y="542"/>
                </a:moveTo>
                <a:cubicBezTo>
                  <a:pt x="10913" y="542"/>
                  <a:pt x="11006" y="650"/>
                  <a:pt x="11006" y="797"/>
                </a:cubicBezTo>
                <a:cubicBezTo>
                  <a:pt x="11006" y="937"/>
                  <a:pt x="10913" y="1052"/>
                  <a:pt x="10800" y="1052"/>
                </a:cubicBezTo>
                <a:cubicBezTo>
                  <a:pt x="10686" y="1052"/>
                  <a:pt x="10594" y="937"/>
                  <a:pt x="10594" y="797"/>
                </a:cubicBezTo>
                <a:cubicBezTo>
                  <a:pt x="10594" y="656"/>
                  <a:pt x="10686" y="542"/>
                  <a:pt x="10800" y="542"/>
                </a:cubicBezTo>
                <a:close/>
                <a:moveTo>
                  <a:pt x="1242" y="1734"/>
                </a:moveTo>
                <a:lnTo>
                  <a:pt x="20358" y="1734"/>
                </a:lnTo>
                <a:lnTo>
                  <a:pt x="20358" y="15233"/>
                </a:lnTo>
                <a:lnTo>
                  <a:pt x="1242" y="15233"/>
                </a:lnTo>
                <a:lnTo>
                  <a:pt x="1242" y="1734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/>
          </a:p>
        </p:txBody>
      </p:sp>
      <p:sp>
        <p:nvSpPr>
          <p:cNvPr id="103" name="Line"/>
          <p:cNvSpPr/>
          <p:nvPr/>
        </p:nvSpPr>
        <p:spPr>
          <a:xfrm>
            <a:off x="1877215" y="2907173"/>
            <a:ext cx="1602775" cy="1342966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4" name="Line"/>
          <p:cNvSpPr/>
          <p:nvPr/>
        </p:nvSpPr>
        <p:spPr>
          <a:xfrm>
            <a:off x="3610604" y="2942886"/>
            <a:ext cx="614902" cy="1218654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5" name="Line"/>
          <p:cNvSpPr/>
          <p:nvPr/>
        </p:nvSpPr>
        <p:spPr>
          <a:xfrm flipH="1">
            <a:off x="4953854" y="2913773"/>
            <a:ext cx="385113" cy="1204019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" name="Line"/>
          <p:cNvSpPr/>
          <p:nvPr/>
        </p:nvSpPr>
        <p:spPr>
          <a:xfrm flipH="1">
            <a:off x="5448123" y="2911918"/>
            <a:ext cx="1736584" cy="1285208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7" name="Server|Cloud|Kunde"/>
          <p:cNvSpPr txBox="1"/>
          <p:nvPr/>
        </p:nvSpPr>
        <p:spPr>
          <a:xfrm>
            <a:off x="3671862" y="4620740"/>
            <a:ext cx="2096994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/>
            </a:pPr>
          </a:p>
          <a:p>
            <a:pPr>
              <a:defRPr sz="1600"/>
            </a:pPr>
            <a:r>
              <a:t>Server|Cloud|Kunde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</a:t>
            </a:r>
          </a:p>
        </p:txBody>
      </p:sp>
      <p:sp>
        <p:nvSpPr>
          <p:cNvPr id="11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20842" indent="-320842">
              <a:buFontTx/>
            </a:pPr>
            <a:r>
              <a:t>Klassische Deployment-Modelle</a:t>
            </a:r>
          </a:p>
          <a:p>
            <a:pPr marL="320842" indent="-320842">
              <a:buFontTx/>
            </a:pPr>
            <a:r>
              <a:t>Container – Grundlagen &amp; Vorteile</a:t>
            </a:r>
          </a:p>
          <a:p>
            <a:pPr marL="320842" indent="-320842">
              <a:buFontTx/>
            </a:pPr>
            <a:r>
              <a:t>Warum Tomcat / JBoss containerisieren?</a:t>
            </a:r>
          </a:p>
          <a:p>
            <a:pPr marL="320842" indent="-320842">
              <a:buFontTx/>
            </a:pPr>
            <a:r>
              <a:t>Kubernetes – Motivation &amp; Nutzen</a:t>
            </a:r>
          </a:p>
          <a:p>
            <a:pPr marL="320842" indent="-320842">
              <a:buFontTx/>
            </a:pPr>
            <a:r>
              <a:t>Kubernetes – Architektur</a:t>
            </a:r>
          </a:p>
          <a:p>
            <a:pPr marL="320842" indent="-320842">
              <a:buFontTx/>
            </a:pPr>
            <a:r>
              <a:t>Kubernetes – Konfiguration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Klassische Deployment-Modelle</a:t>
            </a:r>
          </a:p>
        </p:txBody>
      </p:sp>
      <p:sp>
        <p:nvSpPr>
          <p:cNvPr id="11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 defTabSz="269747">
              <a:spcBef>
                <a:spcPts val="400"/>
              </a:spcBef>
              <a:buSzTx/>
              <a:buFontTx/>
              <a:buNone/>
              <a:defRPr b="1" sz="1887"/>
            </a:pPr>
            <a:r>
              <a:t>Direktes OS-Deployment:</a:t>
            </a:r>
          </a:p>
          <a:p>
            <a:pPr lvl="1" marL="414086" indent="-189296" defTabSz="269747">
              <a:spcBef>
                <a:spcPts val="400"/>
              </a:spcBef>
              <a:buFontTx/>
              <a:buChar char="•"/>
              <a:defRPr sz="1887"/>
            </a:pPr>
            <a:r>
              <a:t>Anwendung direkt auf dem Host-Betriebssystem installiert</a:t>
            </a:r>
          </a:p>
          <a:p>
            <a:pPr lvl="1" marL="414086" indent="-189296" defTabSz="269747">
              <a:spcBef>
                <a:spcPts val="400"/>
              </a:spcBef>
              <a:buFontTx/>
              <a:buChar char="•"/>
              <a:defRPr sz="1887"/>
            </a:pPr>
            <a:r>
              <a:t>Provisionierung auf OS-Ebene (OS, Abhängigkeiten, Anwendung)</a:t>
            </a:r>
          </a:p>
          <a:p>
            <a:pPr lvl="1" marL="414086" indent="-189296" defTabSz="269747">
              <a:spcBef>
                <a:spcPts val="400"/>
              </a:spcBef>
              <a:buFontTx/>
              <a:buChar char="•"/>
              <a:defRPr sz="1887"/>
            </a:pPr>
            <a:r>
              <a:t>Geringe Workload-Konsolidierung (1 physischer server pro App)</a:t>
            </a:r>
          </a:p>
          <a:p>
            <a:pPr lvl="1" marL="414086" indent="-189296" defTabSz="269747">
              <a:spcBef>
                <a:spcPts val="400"/>
              </a:spcBef>
              <a:buFontTx/>
              <a:buChar char="•"/>
              <a:defRPr sz="1887"/>
            </a:pPr>
            <a:r>
              <a:t>Horizontale Skalierung erfordert zusätzliche physische Server</a:t>
            </a:r>
          </a:p>
          <a:p>
            <a:pPr lvl="1" marL="414086" indent="-189296" defTabSz="269747">
              <a:spcBef>
                <a:spcPts val="400"/>
              </a:spcBef>
              <a:buFontTx/>
              <a:buChar char="•"/>
              <a:defRPr sz="1887"/>
            </a:pPr>
            <a:r>
              <a:t>Betrieb und Wartung aufwendig</a:t>
            </a:r>
          </a:p>
          <a:p>
            <a:pPr marL="0" indent="0" defTabSz="269747">
              <a:spcBef>
                <a:spcPts val="400"/>
              </a:spcBef>
              <a:buSzTx/>
              <a:buFontTx/>
              <a:buNone/>
              <a:defRPr b="1" sz="1887"/>
            </a:pPr>
          </a:p>
          <a:p>
            <a:pPr marL="0" indent="0" defTabSz="269747">
              <a:spcBef>
                <a:spcPts val="400"/>
              </a:spcBef>
              <a:buSzTx/>
              <a:buFontTx/>
              <a:buNone/>
              <a:defRPr b="1" sz="1887"/>
            </a:pPr>
            <a:r>
              <a:t>Virtuelle Maschinen:</a:t>
            </a:r>
          </a:p>
          <a:p>
            <a:pPr lvl="1" marL="414086" indent="-189296" defTabSz="269747">
              <a:spcBef>
                <a:spcPts val="400"/>
              </a:spcBef>
              <a:buFontTx/>
              <a:buChar char="•"/>
              <a:defRPr sz="1887"/>
            </a:pPr>
            <a:r>
              <a:t>Starke Isolation durch Hypervisor</a:t>
            </a:r>
          </a:p>
          <a:p>
            <a:pPr lvl="1" marL="414086" indent="-189296" defTabSz="269747">
              <a:spcBef>
                <a:spcPts val="400"/>
              </a:spcBef>
              <a:buFontTx/>
              <a:buChar char="•"/>
              <a:defRPr sz="1887"/>
            </a:pPr>
            <a:r>
              <a:t>Bessere Ressourcenkonsolidierung als Bare Metal</a:t>
            </a:r>
          </a:p>
          <a:p>
            <a:pPr lvl="1" marL="414086" indent="-189296" defTabSz="269747">
              <a:spcBef>
                <a:spcPts val="400"/>
              </a:spcBef>
              <a:buFontTx/>
              <a:buChar char="•"/>
              <a:defRPr sz="1887"/>
            </a:pPr>
            <a:r>
              <a:t>Längere Startzeiten</a:t>
            </a:r>
          </a:p>
          <a:p>
            <a:pPr lvl="1" marL="414086" indent="-189296" defTabSz="269747">
              <a:spcBef>
                <a:spcPts val="400"/>
              </a:spcBef>
              <a:buFontTx/>
              <a:buChar char="•"/>
              <a:defRPr sz="1887"/>
            </a:pPr>
            <a:r>
              <a:t>Typisch ist eine VM pro App (Isolation von Dependencies und Ressourcen)</a:t>
            </a:r>
          </a:p>
          <a:p>
            <a:pPr lvl="1" marL="414086" indent="-189296" defTabSz="269747">
              <a:spcBef>
                <a:spcPts val="400"/>
              </a:spcBef>
              <a:buFontTx/>
              <a:buChar char="•"/>
              <a:defRPr sz="1887"/>
            </a:pPr>
            <a:r>
              <a:t>Jede VM besitzt ein eigenes Betriebssystem (inkl. Kernel -&gt; großes Image)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93192">
              <a:defRPr sz="3784"/>
            </a:lvl1pPr>
          </a:lstStyle>
          <a:p>
            <a:pPr/>
            <a:r>
              <a:t>Von Bare Metal zu modernen Deployments</a:t>
            </a:r>
          </a:p>
        </p:txBody>
      </p:sp>
      <p:sp>
        <p:nvSpPr>
          <p:cNvPr id="116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20842" indent="-320842">
              <a:buFontTx/>
              <a:defRPr sz="2500"/>
            </a:pPr>
            <a:r>
              <a:t>Virtualisierung auf User-Space-Ebene statt vollständiger OS-Virtualisierung</a:t>
            </a:r>
          </a:p>
          <a:p>
            <a:pPr marL="320842" indent="-320842">
              <a:buFontTx/>
              <a:defRPr sz="2500"/>
            </a:pPr>
            <a:r>
              <a:t>Gemeinsame Nutzung des Host-Kernels; Isolation von Applikationen und Dependencies</a:t>
            </a:r>
          </a:p>
        </p:txBody>
      </p:sp>
      <p:pic>
        <p:nvPicPr>
          <p:cNvPr id="117" name="Screenshot 2026-01-13 at 17.59.53.png" descr="Screenshot 2026-01-13 at 17.59.5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07904" y="3384390"/>
            <a:ext cx="2870270" cy="241663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" name="Screenshot 2026-01-16 at 12.29.37.png" descr="Screenshot 2026-01-16 at 12.29.37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6727" y="3544957"/>
            <a:ext cx="2082801" cy="2095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" name="Screenshot 2026-01-16 at 12.31.11.png" descr="Screenshot 2026-01-16 at 12.31.11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722680" y="3740204"/>
            <a:ext cx="3226090" cy="18653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Was ist ein Container?</a:t>
            </a:r>
          </a:p>
        </p:txBody>
      </p:sp>
      <p:sp>
        <p:nvSpPr>
          <p:cNvPr id="122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20842" indent="-320842">
              <a:buFontTx/>
              <a:defRPr sz="2500"/>
            </a:pPr>
            <a:r>
              <a:t>Leichtgewichtiges Laufzeitpaket für Anwendungen inkl. Abhängigkeiten</a:t>
            </a:r>
          </a:p>
          <a:p>
            <a:pPr marL="320842" indent="-320842">
              <a:buFontTx/>
              <a:defRPr sz="2500"/>
            </a:pPr>
            <a:r>
              <a:t>Schnell erstell-, start- und entfernbar</a:t>
            </a:r>
          </a:p>
          <a:p>
            <a:pPr marL="320842" indent="-320842">
              <a:buFontTx/>
              <a:defRPr sz="2500"/>
            </a:pPr>
            <a:r>
              <a:t>Teilt sich den Kernel des Host-Betriebssystems</a:t>
            </a:r>
          </a:p>
          <a:p>
            <a:pPr marL="320842" indent="-320842">
              <a:buFontTx/>
              <a:defRPr sz="2500"/>
            </a:pPr>
            <a:r>
              <a:t>Kein Booten eines vollständigen Betriebssystems pro Anwendung erforderlich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Virtuelle Maschinen vs. Container</a:t>
            </a:r>
          </a:p>
        </p:txBody>
      </p:sp>
      <p:sp>
        <p:nvSpPr>
          <p:cNvPr id="125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 defTabSz="388620">
              <a:spcBef>
                <a:spcPts val="600"/>
              </a:spcBef>
              <a:buSzTx/>
              <a:buFontTx/>
              <a:buNone/>
              <a:defRPr b="1" sz="2720"/>
            </a:pPr>
            <a:r>
              <a:t>Virtuelle Maschinen:</a:t>
            </a:r>
          </a:p>
          <a:p>
            <a:pPr lvl="1" marL="680085" indent="-291465" defTabSz="388620">
              <a:spcBef>
                <a:spcPts val="600"/>
              </a:spcBef>
              <a:buChar char="•"/>
              <a:defRPr sz="2720"/>
            </a:pPr>
            <a:r>
              <a:t>Eigenes Gastbetriebssystem inkl. Kernel</a:t>
            </a:r>
          </a:p>
          <a:p>
            <a:pPr lvl="1" marL="680085" indent="-291465" defTabSz="388620">
              <a:spcBef>
                <a:spcPts val="600"/>
              </a:spcBef>
              <a:buChar char="•"/>
              <a:defRPr sz="2720"/>
            </a:pPr>
            <a:r>
              <a:t>Hoher Ressourcenverbrauch (OS + Kernel pro VM)</a:t>
            </a:r>
          </a:p>
          <a:p>
            <a:pPr lvl="1" marL="680085" indent="-291465" defTabSz="388620">
              <a:spcBef>
                <a:spcPts val="600"/>
              </a:spcBef>
              <a:buChar char="•"/>
              <a:defRPr sz="2720"/>
            </a:pPr>
            <a:r>
              <a:t>Längere Startzeit (Boot des Betriebssystems)</a:t>
            </a:r>
          </a:p>
          <a:p>
            <a:pPr marL="0" indent="0" defTabSz="388620">
              <a:spcBef>
                <a:spcPts val="600"/>
              </a:spcBef>
              <a:buSzTx/>
              <a:buFontTx/>
              <a:buNone/>
              <a:defRPr b="1" sz="2720"/>
            </a:pPr>
            <a:r>
              <a:t>Container:</a:t>
            </a:r>
          </a:p>
          <a:p>
            <a:pPr lvl="1" marL="680085" indent="-291465" defTabSz="388620">
              <a:spcBef>
                <a:spcPts val="600"/>
              </a:spcBef>
              <a:buChar char="•"/>
              <a:defRPr sz="2720"/>
            </a:pPr>
            <a:r>
              <a:t>Kein eigenes Gastbetriebssystem</a:t>
            </a:r>
          </a:p>
          <a:p>
            <a:pPr lvl="1" marL="680085" indent="-291465" defTabSz="388620">
              <a:spcBef>
                <a:spcPts val="600"/>
              </a:spcBef>
              <a:buChar char="•"/>
              <a:defRPr sz="2720"/>
            </a:pPr>
            <a:r>
              <a:t>Teilen sich den Kernel des Host-Betriebssystems</a:t>
            </a:r>
          </a:p>
          <a:p>
            <a:pPr lvl="1" marL="680085" indent="-291465" defTabSz="388620">
              <a:spcBef>
                <a:spcPts val="600"/>
              </a:spcBef>
              <a:buChar char="•"/>
              <a:defRPr sz="2720"/>
            </a:pPr>
            <a:r>
              <a:t>Start in Sekunden</a:t>
            </a:r>
          </a:p>
          <a:p>
            <a:pPr lvl="1" marL="680085" indent="-291465" defTabSz="388620">
              <a:spcBef>
                <a:spcPts val="600"/>
              </a:spcBef>
              <a:buChar char="•"/>
              <a:defRPr sz="2720"/>
            </a:pPr>
            <a:r>
              <a:t>Hohe Dichte pro Host (viele Container pro VM)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93192">
              <a:defRPr sz="3784"/>
            </a:lvl1pPr>
          </a:lstStyle>
          <a:p>
            <a:pPr/>
            <a:r>
              <a:t>Grenzen von Containern ohne Orchestrierung</a:t>
            </a:r>
          </a:p>
        </p:txBody>
      </p:sp>
      <p:sp>
        <p:nvSpPr>
          <p:cNvPr id="12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Keine automatische Verteilung auf verfügbare Hosts</a:t>
            </a:r>
          </a:p>
          <a:p>
            <a:pPr/>
            <a:r>
              <a:t>Kein Self-Healing bei Ausfällen</a:t>
            </a:r>
          </a:p>
          <a:p>
            <a:pPr/>
            <a:r>
              <a:t>Keine Service Discovery zwischen Containern</a:t>
            </a:r>
          </a:p>
          <a:p>
            <a:pPr/>
            <a:r>
              <a:t>Keine automatische Skalierung von Anwendungen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Was ist Kubernetes?</a:t>
            </a:r>
          </a:p>
        </p:txBody>
      </p:sp>
      <p:sp>
        <p:nvSpPr>
          <p:cNvPr id="131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Open-Source-Plattform zum Betrieb von Containern</a:t>
            </a:r>
          </a:p>
          <a:p>
            <a:pPr/>
            <a:r>
              <a:t>Verteilt und verwaltet Container auf mehreren Rechnern (Cluster)</a:t>
            </a:r>
          </a:p>
          <a:p>
            <a:pPr/>
            <a:r>
              <a:t>Skaliert Anwendungen automatisch und ermöglicht einfache Updates</a:t>
            </a:r>
          </a:p>
          <a:p>
            <a:pPr/>
            <a:r>
              <a:t>Du beschreibst was laufen soll – Kubernetes kümmert sich um das Wie (Deklarativ)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Image Gallery"/>
          <p:cNvGrpSpPr/>
          <p:nvPr/>
        </p:nvGrpSpPr>
        <p:grpSpPr>
          <a:xfrm>
            <a:off x="889000" y="889000"/>
            <a:ext cx="7366000" cy="5270153"/>
            <a:chOff x="0" y="0"/>
            <a:chExt cx="7366000" cy="5270152"/>
          </a:xfrm>
        </p:grpSpPr>
        <p:pic>
          <p:nvPicPr>
            <p:cNvPr id="133" name="ChatGPT Image Jan 14, 2026, 10_52_07 AM.png" descr="ChatGPT Image Jan 14, 2026, 10_52_07 AM.pn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2288" r="0" b="2288"/>
            <a:stretch>
              <a:fillRect/>
            </a:stretch>
          </p:blipFill>
          <p:spPr>
            <a:xfrm>
              <a:off x="0" y="0"/>
              <a:ext cx="7366000" cy="46859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4" name="Der Name Kubernetes (κυβερνήτης) heißt „Steuermann“ oder „Lotse“ – passend zur Rolle, Container zu „steuern“."/>
            <p:cNvSpPr/>
            <p:nvPr/>
          </p:nvSpPr>
          <p:spPr>
            <a:xfrm>
              <a:off x="0" y="4762152"/>
              <a:ext cx="7366000" cy="508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noAutofit/>
            </a:bodyPr>
            <a:lstStyle/>
            <a:p>
              <a:pPr>
                <a:defRPr sz="1200">
                  <a:latin typeface="Times Roman"/>
                  <a:ea typeface="Times Roman"/>
                  <a:cs typeface="Times Roman"/>
                  <a:sym typeface="Times Roman"/>
                </a:defRPr>
              </a:pPr>
              <a:r>
                <a:t>Der Name </a:t>
              </a:r>
              <a:r>
                <a:rPr i="1"/>
                <a:t>Kubernetes</a:t>
              </a:r>
              <a:r>
                <a:t> (κυβερνήτης) heißt </a:t>
              </a:r>
              <a:r>
                <a:rPr b="1"/>
                <a:t>„Steuermann“</a:t>
              </a:r>
              <a:r>
                <a:t> oder </a:t>
              </a:r>
              <a:r>
                <a:rPr b="1"/>
                <a:t>„Lotse“</a:t>
              </a:r>
              <a:r>
                <a:t> – passend zur Rolle, Container zu „steuern“.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Was übernimmt Kubernetes?</a:t>
            </a:r>
          </a:p>
        </p:txBody>
      </p:sp>
      <p:sp>
        <p:nvSpPr>
          <p:cNvPr id="13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257175" indent="-257175" defTabSz="342900">
              <a:spcBef>
                <a:spcPts val="500"/>
              </a:spcBef>
              <a:defRPr sz="2400"/>
            </a:pPr>
            <a:r>
              <a:t>Automatische Platzierung (Scheduling) von Containern im Cluster</a:t>
            </a:r>
          </a:p>
          <a:p>
            <a:pPr marL="257175" indent="-257175" defTabSz="342900">
              <a:spcBef>
                <a:spcPts val="500"/>
              </a:spcBef>
              <a:defRPr sz="2400"/>
            </a:pPr>
            <a:r>
              <a:t>Überwachung &amp; Neustart fehlerhafter Pods (Self-Healing)</a:t>
            </a:r>
          </a:p>
          <a:p>
            <a:pPr marL="257175" indent="-257175" defTabSz="342900">
              <a:spcBef>
                <a:spcPts val="500"/>
              </a:spcBef>
              <a:defRPr sz="2400"/>
            </a:pPr>
            <a:r>
              <a:t>Integriertes Load Balancing für Services</a:t>
            </a:r>
          </a:p>
          <a:p>
            <a:pPr marL="257175" indent="-257175" defTabSz="342900">
              <a:spcBef>
                <a:spcPts val="500"/>
              </a:spcBef>
              <a:defRPr sz="2400"/>
            </a:pPr>
            <a:r>
              <a:t>Automatische Skalierung von Anwendungen</a:t>
            </a:r>
          </a:p>
          <a:p>
            <a:pPr marL="257175" indent="-257175" defTabSz="342900">
              <a:spcBef>
                <a:spcPts val="500"/>
              </a:spcBef>
              <a:defRPr sz="2400"/>
            </a:pPr>
            <a:r>
              <a:t>Ressourcenmanagement (CPU / Speicher anfordern und begrenzen)</a:t>
            </a:r>
          </a:p>
          <a:p>
            <a:pPr marL="257175" indent="-257175" defTabSz="342900">
              <a:spcBef>
                <a:spcPts val="500"/>
              </a:spcBef>
              <a:defRPr sz="2400"/>
            </a:pPr>
            <a:r>
              <a:t>Konfigurations- &amp; Secret-Management</a:t>
            </a:r>
          </a:p>
          <a:p>
            <a:pPr marL="257175" indent="-257175" defTabSz="342900">
              <a:spcBef>
                <a:spcPts val="500"/>
              </a:spcBef>
              <a:defRPr sz="2400"/>
            </a:pPr>
            <a:r>
              <a:t>Unterstützt zustandslose und zustandsbehaftete Anwendungen</a:t>
            </a:r>
          </a:p>
          <a:p>
            <a:pPr marL="257175" indent="-257175" defTabSz="342900">
              <a:spcBef>
                <a:spcPts val="500"/>
              </a:spcBef>
              <a:defRPr sz="2400"/>
            </a:pPr>
            <a:r>
              <a:t>Erweiterbar, portabel und Open Source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Kubernetes-Architektur</a:t>
            </a:r>
          </a:p>
        </p:txBody>
      </p:sp>
      <p:grpSp>
        <p:nvGrpSpPr>
          <p:cNvPr id="143" name="Image Gallery"/>
          <p:cNvGrpSpPr/>
          <p:nvPr/>
        </p:nvGrpSpPr>
        <p:grpSpPr>
          <a:xfrm>
            <a:off x="1363655" y="1648266"/>
            <a:ext cx="6262479" cy="4496808"/>
            <a:chOff x="0" y="0"/>
            <a:chExt cx="6262478" cy="4496807"/>
          </a:xfrm>
        </p:grpSpPr>
        <p:pic>
          <p:nvPicPr>
            <p:cNvPr id="141" name="ChatGPT Image Jan 15, 2026, 12_31_56 PM.png" descr="ChatGPT Image Jan 15, 2026, 12_31_56 PM.pn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1777" r="0" b="1777"/>
            <a:stretch>
              <a:fillRect/>
            </a:stretch>
          </p:blipFill>
          <p:spPr>
            <a:xfrm>
              <a:off x="0" y="0"/>
              <a:ext cx="6262479" cy="40265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2" name="Überblick"/>
            <p:cNvSpPr/>
            <p:nvPr/>
          </p:nvSpPr>
          <p:spPr>
            <a:xfrm>
              <a:off x="0" y="4102760"/>
              <a:ext cx="6262479" cy="3940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noAutofit/>
            </a:bodyPr>
            <a:lstStyle/>
            <a:p>
              <a:pPr/>
              <a:r>
                <a:t>Überblick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16052">
              <a:defRPr sz="4004"/>
            </a:lvl1pPr>
          </a:lstStyle>
          <a:p>
            <a:pPr/>
            <a:r>
              <a:t>Control Plane – das Gehirn des Clusters</a:t>
            </a:r>
          </a:p>
        </p:txBody>
      </p:sp>
      <p:sp>
        <p:nvSpPr>
          <p:cNvPr id="146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 defTabSz="310895">
              <a:spcBef>
                <a:spcPts val="500"/>
              </a:spcBef>
              <a:buSzTx/>
              <a:buFontTx/>
              <a:buNone/>
              <a:defRPr b="1" sz="2176"/>
            </a:pPr>
            <a:r>
              <a:t>API Server</a:t>
            </a:r>
          </a:p>
          <a:p>
            <a:pPr lvl="1" marL="544068" indent="-233172" defTabSz="310895">
              <a:spcBef>
                <a:spcPts val="500"/>
              </a:spcBef>
              <a:buChar char="•"/>
              <a:defRPr sz="2176"/>
            </a:pPr>
            <a:r>
              <a:t>Zentrale Schnittstelle für Benutzer &amp; Tools (kubectl)</a:t>
            </a:r>
          </a:p>
          <a:p>
            <a:pPr lvl="1" marL="544068" indent="-233172" defTabSz="310895">
              <a:spcBef>
                <a:spcPts val="500"/>
              </a:spcBef>
              <a:buChar char="•"/>
              <a:defRPr sz="2176"/>
            </a:pPr>
            <a:r>
              <a:t>Alle Änderungen laufen über ihn</a:t>
            </a:r>
          </a:p>
          <a:p>
            <a:pPr marL="0" indent="0" defTabSz="310895">
              <a:spcBef>
                <a:spcPts val="500"/>
              </a:spcBef>
              <a:buSzTx/>
              <a:buFontTx/>
              <a:buNone/>
              <a:defRPr b="1" sz="2176"/>
            </a:pPr>
            <a:r>
              <a:t>Scheduler</a:t>
            </a:r>
          </a:p>
          <a:p>
            <a:pPr lvl="1" marL="544068" indent="-233172" defTabSz="310895">
              <a:spcBef>
                <a:spcPts val="500"/>
              </a:spcBef>
              <a:buChar char="•"/>
              <a:defRPr sz="2176"/>
            </a:pPr>
            <a:r>
              <a:t>Entscheidet, auf welchem Worker Node ein Pod gestartet wird</a:t>
            </a:r>
          </a:p>
          <a:p>
            <a:pPr marL="0" indent="0" defTabSz="310895">
              <a:spcBef>
                <a:spcPts val="500"/>
              </a:spcBef>
              <a:buSzTx/>
              <a:buFontTx/>
              <a:buNone/>
              <a:defRPr b="1" sz="2176"/>
            </a:pPr>
            <a:r>
              <a:t>Controller Manager</a:t>
            </a:r>
          </a:p>
          <a:p>
            <a:pPr lvl="1" marL="544068" indent="-233172" defTabSz="310895">
              <a:spcBef>
                <a:spcPts val="500"/>
              </a:spcBef>
              <a:buChar char="•"/>
              <a:defRPr sz="2176"/>
            </a:pPr>
            <a:r>
              <a:t>Überwacht den gewünschten Zustand (z. B. Replicas, Nodes)</a:t>
            </a:r>
          </a:p>
          <a:p>
            <a:pPr lvl="1" marL="544068" indent="-233172" defTabSz="310895">
              <a:spcBef>
                <a:spcPts val="500"/>
              </a:spcBef>
              <a:buChar char="•"/>
              <a:defRPr sz="2176"/>
            </a:pPr>
            <a:r>
              <a:t>Korrigiert Abweichungen automatisch</a:t>
            </a:r>
          </a:p>
          <a:p>
            <a:pPr marL="0" indent="0" defTabSz="310895">
              <a:spcBef>
                <a:spcPts val="500"/>
              </a:spcBef>
              <a:buSzTx/>
              <a:buFontTx/>
              <a:buNone/>
              <a:defRPr b="1" sz="2176"/>
            </a:pPr>
            <a:r>
              <a:t>etcd</a:t>
            </a:r>
          </a:p>
          <a:p>
            <a:pPr lvl="1" marL="544068" indent="-233172" defTabSz="310895">
              <a:spcBef>
                <a:spcPts val="500"/>
              </a:spcBef>
              <a:buChar char="•"/>
              <a:defRPr sz="2176"/>
            </a:pPr>
            <a:r>
              <a:t>Verteilte Key-Value-Datenbank</a:t>
            </a:r>
          </a:p>
          <a:p>
            <a:pPr lvl="1" marL="544068" indent="-233172" defTabSz="310895">
              <a:spcBef>
                <a:spcPts val="500"/>
              </a:spcBef>
              <a:buChar char="•"/>
              <a:defRPr sz="2176"/>
            </a:pPr>
            <a:r>
              <a:t>Speichert den gesamten Cluster-Zustand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93192">
              <a:defRPr sz="3784"/>
            </a:lvl1pPr>
          </a:lstStyle>
          <a:p>
            <a:pPr/>
            <a:r>
              <a:t>Worker Nodes – hier laufen die Anwendungen</a:t>
            </a:r>
          </a:p>
        </p:txBody>
      </p:sp>
      <p:sp>
        <p:nvSpPr>
          <p:cNvPr id="14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 defTabSz="224027">
              <a:spcBef>
                <a:spcPts val="300"/>
              </a:spcBef>
              <a:buSzTx/>
              <a:buFontTx/>
              <a:buNone/>
              <a:defRPr b="1" sz="1568"/>
            </a:pPr>
            <a:r>
              <a:t>kubelet</a:t>
            </a:r>
          </a:p>
          <a:p>
            <a:pPr lvl="1" marL="343902" indent="-157212" defTabSz="224027">
              <a:spcBef>
                <a:spcPts val="300"/>
              </a:spcBef>
              <a:buFontTx/>
              <a:buChar char="•"/>
              <a:defRPr sz="1568"/>
            </a:pPr>
            <a:r>
              <a:t>Agent auf dem Node</a:t>
            </a:r>
          </a:p>
          <a:p>
            <a:pPr lvl="1" marL="343902" indent="-157212" defTabSz="224027">
              <a:spcBef>
                <a:spcPts val="300"/>
              </a:spcBef>
              <a:buFontTx/>
              <a:buChar char="•"/>
              <a:defRPr sz="1568"/>
            </a:pPr>
            <a:r>
              <a:t>Setzt Anweisungen der Control Plane um</a:t>
            </a:r>
          </a:p>
          <a:p>
            <a:pPr marL="0" indent="0" defTabSz="224027">
              <a:spcBef>
                <a:spcPts val="300"/>
              </a:spcBef>
              <a:buSzTx/>
              <a:buFontTx/>
              <a:buNone/>
              <a:defRPr b="1" sz="1568"/>
            </a:pPr>
            <a:r>
              <a:t>kube-proxy</a:t>
            </a:r>
          </a:p>
          <a:p>
            <a:pPr lvl="1" marL="343902" indent="-157212" defTabSz="224027">
              <a:spcBef>
                <a:spcPts val="300"/>
              </a:spcBef>
              <a:buFontTx/>
              <a:buChar char="•"/>
              <a:defRPr sz="1568"/>
            </a:pPr>
            <a:r>
              <a:t>Zuständig für Netzwerk &amp; Service-Routing</a:t>
            </a:r>
          </a:p>
          <a:p>
            <a:pPr marL="0" indent="0" defTabSz="224027">
              <a:spcBef>
                <a:spcPts val="300"/>
              </a:spcBef>
              <a:buSzTx/>
              <a:buFontTx/>
              <a:buNone/>
              <a:defRPr b="1" sz="1568"/>
            </a:pPr>
            <a:r>
              <a:t>Pods</a:t>
            </a:r>
          </a:p>
          <a:p>
            <a:pPr lvl="1" marL="343902" indent="-157212" defTabSz="224027">
              <a:spcBef>
                <a:spcPts val="300"/>
              </a:spcBef>
              <a:buFontTx/>
              <a:buChar char="•"/>
              <a:defRPr sz="1568"/>
            </a:pPr>
            <a:r>
              <a:t>Kleinste ausführbare Einheit in Kubernetes</a:t>
            </a:r>
          </a:p>
          <a:p>
            <a:pPr lvl="1" marL="343902" indent="-157212" defTabSz="224027">
              <a:spcBef>
                <a:spcPts val="300"/>
              </a:spcBef>
              <a:buFontTx/>
              <a:buChar char="•"/>
              <a:defRPr sz="1568"/>
            </a:pPr>
            <a:r>
              <a:t>Enthalten ein oder mehrere Container</a:t>
            </a:r>
          </a:p>
          <a:p>
            <a:pPr lvl="1" marL="343902" indent="-157212" defTabSz="224027">
              <a:spcBef>
                <a:spcPts val="300"/>
              </a:spcBef>
              <a:buFontTx/>
              <a:buChar char="•"/>
              <a:defRPr sz="1568"/>
            </a:pPr>
            <a:r>
              <a:t>Gemeinsames Netzwerk &amp; Storage</a:t>
            </a:r>
          </a:p>
          <a:p>
            <a:pPr lvl="1" marL="343902" indent="-157212" defTabSz="224027">
              <a:spcBef>
                <a:spcPts val="300"/>
              </a:spcBef>
              <a:buFontTx/>
              <a:buChar char="•"/>
              <a:defRPr sz="1568"/>
            </a:pPr>
            <a:r>
              <a:t>Gemeinsamer Lebenszyklus</a:t>
            </a:r>
          </a:p>
          <a:p>
            <a:pPr marL="0" indent="0" defTabSz="224027">
              <a:spcBef>
                <a:spcPts val="300"/>
              </a:spcBef>
              <a:buSzTx/>
              <a:buFontTx/>
              <a:buNone/>
              <a:defRPr b="1" sz="1568"/>
            </a:pPr>
            <a:r>
              <a:t>Container Runtime</a:t>
            </a:r>
          </a:p>
          <a:p>
            <a:pPr lvl="1" marL="343902" indent="-157212" defTabSz="224027">
              <a:spcBef>
                <a:spcPts val="300"/>
              </a:spcBef>
              <a:buFontTx/>
              <a:buChar char="•"/>
              <a:defRPr sz="1568"/>
            </a:pPr>
            <a:r>
              <a:t>Startet und verwaltet Container (z. B. containerd)</a:t>
            </a:r>
          </a:p>
          <a:p>
            <a:pPr marL="0" indent="0" defTabSz="224027">
              <a:spcBef>
                <a:spcPts val="300"/>
              </a:spcBef>
              <a:buSzTx/>
              <a:buFontTx/>
              <a:buNone/>
              <a:defRPr b="1" sz="1568"/>
            </a:pPr>
            <a:r>
              <a:t>Node OS</a:t>
            </a:r>
          </a:p>
          <a:p>
            <a:pPr lvl="1" marL="343902" indent="-157212" defTabSz="224027">
              <a:spcBef>
                <a:spcPts val="300"/>
              </a:spcBef>
              <a:buFontTx/>
              <a:buChar char="•"/>
              <a:defRPr sz="1568"/>
            </a:pPr>
            <a:r>
              <a:t>Linux-Betriebssystem des Nodes</a:t>
            </a:r>
          </a:p>
          <a:p>
            <a:pPr lvl="1" marL="343902" indent="-157212" defTabSz="224027">
              <a:spcBef>
                <a:spcPts val="300"/>
              </a:spcBef>
              <a:buFontTx/>
              <a:buChar char="•"/>
              <a:defRPr sz="1568"/>
            </a:pPr>
            <a:r>
              <a:t>Stellt Kernel, Netzwerk und Ressourcen bereit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93192">
              <a:defRPr sz="3784"/>
            </a:lvl1pPr>
          </a:lstStyle>
          <a:p>
            <a:pPr/>
            <a:r>
              <a:t>Deklarative Konfiguration &amp; Deployments in Kubernetes</a:t>
            </a:r>
          </a:p>
        </p:txBody>
      </p:sp>
      <p:sp>
        <p:nvSpPr>
          <p:cNvPr id="152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05180" indent="-305180" defTabSz="406908">
              <a:spcBef>
                <a:spcPts val="600"/>
              </a:spcBef>
              <a:defRPr sz="2848"/>
            </a:pPr>
            <a:r>
              <a:t>In Kubernetes beschreibt man den gewünschten Zielzustand, nicht die Schritte dahin</a:t>
            </a:r>
          </a:p>
          <a:p>
            <a:pPr marL="305180" indent="-305180" defTabSz="406908">
              <a:spcBef>
                <a:spcPts val="600"/>
              </a:spcBef>
              <a:defRPr sz="2848"/>
            </a:pPr>
            <a:r>
              <a:t>Kubernetes sorgt selbstständig dafür, diesen Zustand zu erreichen</a:t>
            </a:r>
          </a:p>
          <a:p>
            <a:pPr marL="305180" indent="-305180" defTabSz="406908">
              <a:spcBef>
                <a:spcPts val="600"/>
              </a:spcBef>
              <a:defRPr sz="2848"/>
            </a:pPr>
            <a:r>
              <a:t>Änderungen werden über YAML-Manifeste definiert</a:t>
            </a:r>
          </a:p>
          <a:p>
            <a:pPr marL="305180" indent="-305180" defTabSz="406908">
              <a:spcBef>
                <a:spcPts val="600"/>
              </a:spcBef>
              <a:defRPr sz="2848"/>
            </a:pPr>
            <a:r>
              <a:t>Ein Deployment verwaltet Pods und sorgt für:</a:t>
            </a:r>
          </a:p>
          <a:p>
            <a:pPr lvl="1" marL="712088" indent="-305180" defTabSz="406908">
              <a:spcBef>
                <a:spcPts val="600"/>
              </a:spcBef>
              <a:buChar char="•"/>
              <a:defRPr sz="2848"/>
            </a:pPr>
            <a:r>
              <a:t>Replikation</a:t>
            </a:r>
          </a:p>
          <a:p>
            <a:pPr lvl="1" marL="712088" indent="-305180" defTabSz="406908">
              <a:spcBef>
                <a:spcPts val="600"/>
              </a:spcBef>
              <a:buChar char="•"/>
              <a:defRPr sz="2848"/>
            </a:pPr>
            <a:r>
              <a:t>Rolling Updates</a:t>
            </a:r>
          </a:p>
          <a:p>
            <a:pPr lvl="1" marL="712088" indent="-305180" defTabSz="406908">
              <a:spcBef>
                <a:spcPts val="600"/>
              </a:spcBef>
              <a:buChar char="•"/>
              <a:defRPr sz="2848"/>
            </a:pPr>
            <a:r>
              <a:t>Selbstheilung (Restart defekter Pods)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Deployment - Beispie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Deployment - Beispiel</a:t>
            </a:r>
          </a:p>
        </p:txBody>
      </p:sp>
      <p:pic>
        <p:nvPicPr>
          <p:cNvPr id="155" name="Screenshot 2026-01-19 at 13.03.04.png" descr="Screenshot 2026-01-19 at 13.03.0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03350" y="1651347"/>
            <a:ext cx="6991890" cy="432964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93192">
              <a:defRPr sz="3784"/>
            </a:lvl1pPr>
          </a:lstStyle>
          <a:p>
            <a:pPr/>
            <a:r>
              <a:t>Services – stabile Erreichbarkeit von Anwendungen</a:t>
            </a:r>
          </a:p>
        </p:txBody>
      </p:sp>
      <p:sp>
        <p:nvSpPr>
          <p:cNvPr id="15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 defTabSz="438911">
              <a:buSzTx/>
              <a:buFontTx/>
              <a:buNone/>
              <a:defRPr b="1" sz="3072"/>
            </a:pPr>
            <a:r>
              <a:t>Stabile Netzwerkadresse</a:t>
            </a:r>
          </a:p>
          <a:p>
            <a:pPr lvl="1" marL="768095" indent="-329184" defTabSz="438911">
              <a:buChar char="•"/>
              <a:defRPr sz="3072"/>
            </a:pPr>
            <a:r>
              <a:t>Unabhängig von Pod-Lebenszyklen</a:t>
            </a:r>
          </a:p>
          <a:p>
            <a:pPr marL="0" indent="0" defTabSz="438911">
              <a:buSzTx/>
              <a:buFontTx/>
              <a:buNone/>
              <a:defRPr b="1" sz="3072"/>
            </a:pPr>
            <a:r>
              <a:t>Load Balancing</a:t>
            </a:r>
          </a:p>
          <a:p>
            <a:pPr lvl="1" marL="768095" indent="-329184" defTabSz="438911">
              <a:buChar char="•"/>
              <a:defRPr sz="3072"/>
            </a:pPr>
            <a:r>
              <a:t>Verteilt Traffic auf mehrere Pod-Replikas</a:t>
            </a:r>
          </a:p>
          <a:p>
            <a:pPr marL="0" indent="0" defTabSz="438911">
              <a:buSzTx/>
              <a:buFontTx/>
              <a:buNone/>
              <a:defRPr b="1" sz="3072"/>
            </a:pPr>
            <a:r>
              <a:t>Service Discovery</a:t>
            </a:r>
          </a:p>
          <a:p>
            <a:pPr lvl="1" marL="768095" indent="-329184" defTabSz="438911">
              <a:buChar char="•"/>
              <a:defRPr sz="3072"/>
            </a:pPr>
            <a:r>
              <a:t>Automatisch per DNS im Cluster</a:t>
            </a:r>
          </a:p>
          <a:p>
            <a:pPr marL="0" indent="0" defTabSz="438911">
              <a:buSzTx/>
              <a:buFontTx/>
              <a:buNone/>
              <a:defRPr b="1" sz="3072"/>
            </a:pPr>
            <a:r>
              <a:t>Entkopplung von Pod &amp; Client</a:t>
            </a:r>
          </a:p>
          <a:p>
            <a:pPr lvl="1" marL="768095" indent="-329184" defTabSz="438911">
              <a:buChar char="•"/>
              <a:defRPr sz="3072"/>
            </a:pPr>
            <a:r>
              <a:t>Clients kennen nur den Service, nicht die Pods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93192">
              <a:defRPr sz="3784"/>
            </a:lvl1pPr>
          </a:lstStyle>
          <a:p>
            <a:pPr/>
            <a:r>
              <a:t>ConfigMaps &amp; Secrets – externe Konfiguration</a:t>
            </a:r>
          </a:p>
        </p:txBody>
      </p:sp>
      <p:sp>
        <p:nvSpPr>
          <p:cNvPr id="161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b="1"/>
            </a:pPr>
            <a:r>
              <a:t>Externe Konfiguration</a:t>
            </a:r>
          </a:p>
          <a:p>
            <a:pPr lvl="1" marL="800100" indent="-342900">
              <a:buChar char="•"/>
            </a:pPr>
            <a:r>
              <a:t>Trennung von Code und Konfiguration</a:t>
            </a:r>
          </a:p>
          <a:p>
            <a:pPr>
              <a:defRPr b="1"/>
            </a:pPr>
            <a:r>
              <a:t>Nutzung via Environment Variablen oder Volumes</a:t>
            </a:r>
          </a:p>
          <a:p>
            <a:pPr>
              <a:defRPr b="1"/>
            </a:pPr>
            <a:r>
              <a:t>Secrets für Passwörter &amp; Tokens</a:t>
            </a:r>
          </a:p>
          <a:p>
            <a:pPr lvl="1" marL="800100" indent="-342900">
              <a:buChar char="•"/>
            </a:pPr>
            <a:r>
              <a:t>(Base64-kodiert, nicht im Image)</a:t>
            </a:r>
          </a:p>
          <a:p>
            <a:pPr>
              <a:defRPr b="1"/>
            </a:pPr>
            <a:r>
              <a:t>Kein Rebuild oder Redeploy des Images notwendig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93192">
              <a:defRPr sz="3784"/>
            </a:lvl1pPr>
          </a:lstStyle>
          <a:p>
            <a:pPr/>
            <a:r>
              <a:t>Resource Requests &amp; Limits – Ressourcensteuerung in Kubernetes</a:t>
            </a:r>
          </a:p>
        </p:txBody>
      </p:sp>
      <p:sp>
        <p:nvSpPr>
          <p:cNvPr id="16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b="1" sz="2300"/>
            </a:pPr>
            <a:r>
              <a:t>CPU- &amp; Memory-Requests</a:t>
            </a:r>
          </a:p>
          <a:p>
            <a:pPr marL="342899" indent="-342899">
              <a:defRPr sz="2300"/>
            </a:pPr>
            <a:r>
              <a:t>Garantierte Mindestressourcen pro Pod</a:t>
            </a:r>
          </a:p>
          <a:p>
            <a:pPr marL="0" indent="0">
              <a:buSzTx/>
              <a:buFontTx/>
              <a:buNone/>
              <a:defRPr b="1" sz="2300"/>
            </a:pPr>
            <a:r>
              <a:t>CPU- &amp; Memory-Limits</a:t>
            </a:r>
          </a:p>
          <a:p>
            <a:pPr marL="342899" indent="-342899">
              <a:defRPr sz="2300"/>
            </a:pPr>
            <a:r>
              <a:t>Maximale Ressourcennutzung pro Pod</a:t>
            </a:r>
          </a:p>
          <a:p>
            <a:pPr marL="0" indent="0">
              <a:buSzTx/>
              <a:buFontTx/>
              <a:buNone/>
              <a:defRPr b="1" sz="2300"/>
            </a:pPr>
            <a:r>
              <a:t>Schutz vor „Noisy Neighbors“</a:t>
            </a:r>
          </a:p>
          <a:p>
            <a:pPr marL="342899" indent="-342899">
              <a:defRPr sz="2300"/>
            </a:pPr>
            <a:r>
              <a:t>Verhindert, dass ein Pod andere ausbremst</a:t>
            </a:r>
          </a:p>
          <a:p>
            <a:pPr marL="0" indent="0">
              <a:buSzTx/>
              <a:buFontTx/>
              <a:buNone/>
              <a:defRPr b="1" sz="2300"/>
            </a:pPr>
            <a:r>
              <a:t>Vorhersehbares Scheduling</a:t>
            </a:r>
          </a:p>
          <a:p>
            <a:pPr marL="342899" indent="-342899">
              <a:defRPr sz="2300"/>
            </a:pPr>
            <a:r>
              <a:t>Scheduler platziert Pods nur auf passenden Nodes</a:t>
            </a:r>
          </a:p>
        </p:txBody>
      </p:sp>
      <p:sp>
        <p:nvSpPr>
          <p:cNvPr id="165" name="resources:…"/>
          <p:cNvSpPr txBox="1"/>
          <p:nvPr/>
        </p:nvSpPr>
        <p:spPr>
          <a:xfrm>
            <a:off x="6807372" y="1844352"/>
            <a:ext cx="1986295" cy="2377788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resources: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  requests: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    cpu: "100m"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    memory: "128Mi"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  limits: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    cpu: "500m"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    memory: "256Mi"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93192">
              <a:defRPr sz="3784"/>
            </a:lvl1pPr>
          </a:lstStyle>
          <a:p>
            <a:pPr/>
            <a:r>
              <a:t>Liveness &amp; Readiness Probes – Self-Healing &amp; Traffic-Kontrolle</a:t>
            </a:r>
          </a:p>
        </p:txBody>
      </p:sp>
      <p:sp>
        <p:nvSpPr>
          <p:cNvPr id="16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200"/>
              </a:spcBef>
              <a:buSzTx/>
              <a:buFontTx/>
              <a:buNone/>
              <a:defRPr b="1" sz="2300"/>
            </a:pPr>
            <a:r>
              <a:t>Liveness Probe</a:t>
            </a:r>
          </a:p>
          <a:p>
            <a:pPr marL="457200" indent="-317500">
              <a:spcBef>
                <a:spcPts val="1200"/>
              </a:spcBef>
              <a:buFont typeface="Times Roman"/>
              <a:defRPr sz="2300"/>
            </a:pPr>
            <a:r>
              <a:t>Prüft, ob ein Container noch korrekt läuft</a:t>
            </a:r>
          </a:p>
          <a:p>
            <a:pPr marL="457200" indent="-317500">
              <a:spcBef>
                <a:spcPts val="1200"/>
              </a:spcBef>
              <a:buFont typeface="Times Roman"/>
              <a:defRPr sz="2300"/>
            </a:pPr>
            <a:r>
              <a:t>Fehlgeschlagen → Container wird neu gestartet</a:t>
            </a:r>
          </a:p>
          <a:p>
            <a:pPr marL="0" indent="0">
              <a:spcBef>
                <a:spcPts val="1200"/>
              </a:spcBef>
              <a:buSzTx/>
              <a:buFontTx/>
              <a:buNone/>
              <a:defRPr b="1" sz="2300"/>
            </a:pPr>
            <a:r>
              <a:t>Readiness Probe</a:t>
            </a:r>
          </a:p>
          <a:p>
            <a:pPr marL="457200" indent="-317500">
              <a:spcBef>
                <a:spcPts val="1200"/>
              </a:spcBef>
              <a:buFont typeface="Times Roman"/>
              <a:defRPr sz="2300"/>
            </a:pPr>
            <a:r>
              <a:t>Prüft, ob ein Pod bereit für Traffic ist</a:t>
            </a:r>
          </a:p>
          <a:p>
            <a:pPr marL="457200" indent="-317500">
              <a:spcBef>
                <a:spcPts val="1200"/>
              </a:spcBef>
              <a:buFont typeface="Times Roman"/>
              <a:defRPr sz="2300"/>
            </a:pPr>
            <a:r>
              <a:t>Fehlgeschlagen → Pod erhält keinen Traffic</a:t>
            </a:r>
          </a:p>
          <a:p>
            <a:pPr marL="230605" indent="-230605">
              <a:spcBef>
                <a:spcPts val="1200"/>
              </a:spcBef>
              <a:buFontTx/>
              <a:defRPr sz="2300"/>
            </a:pPr>
            <a:r>
              <a:t>Verhindert Traffic auf nicht startbereite oder fehlerhafte Pods</a:t>
            </a:r>
          </a:p>
          <a:p>
            <a:pPr marL="230605" indent="-230605">
              <a:spcBef>
                <a:spcPts val="1200"/>
              </a:spcBef>
              <a:buFontTx/>
              <a:defRPr sz="2300"/>
            </a:pPr>
            <a:r>
              <a:t>Ermöglicht saubere Deployments &amp; Rolling Updates</a:t>
            </a:r>
          </a:p>
        </p:txBody>
      </p:sp>
      <p:sp>
        <p:nvSpPr>
          <p:cNvPr id="169" name="livenessProbe:…"/>
          <p:cNvSpPr txBox="1"/>
          <p:nvPr/>
        </p:nvSpPr>
        <p:spPr>
          <a:xfrm>
            <a:off x="6663565" y="1293170"/>
            <a:ext cx="1973515" cy="3249797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livenessProbe: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  httpGet: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    path: /health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    port: 8080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  initialDelaySeconds: 30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  periodSeconds: 10</a:t>
            </a:r>
          </a:p>
          <a:p>
            <a:pPr>
              <a:defRPr sz="1500">
                <a:solidFill>
                  <a:srgbClr val="FFFFFF"/>
                </a:solidFill>
              </a:defRPr>
            </a:pP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readinessProbe: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  httpGet: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    path: /ready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    port: 8080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  initialDelaySeconds: 5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  periodSeconds: 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93192">
              <a:defRPr sz="3784"/>
            </a:lvl1pPr>
          </a:lstStyle>
          <a:p>
            <a:pPr/>
            <a:r>
              <a:t>Pod Disruption Budgets (PDBs) – Verfügbarkeit sicherstellen</a:t>
            </a:r>
          </a:p>
        </p:txBody>
      </p:sp>
      <p:sp>
        <p:nvSpPr>
          <p:cNvPr id="172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20842" indent="-320842">
              <a:spcBef>
                <a:spcPts val="1200"/>
              </a:spcBef>
              <a:buFontTx/>
              <a:defRPr sz="2300"/>
            </a:pPr>
            <a:r>
              <a:t>Definieren, wie viele Pods gleichzeitig ausfallen dürfen</a:t>
            </a:r>
          </a:p>
          <a:p>
            <a:pPr marL="320842" indent="-320842">
              <a:spcBef>
                <a:spcPts val="1200"/>
              </a:spcBef>
              <a:buFontTx/>
              <a:defRPr sz="2300"/>
            </a:pPr>
            <a:r>
              <a:t>Schützen Anwendungen bei geplanten Unterbrechungen</a:t>
            </a:r>
          </a:p>
          <a:p>
            <a:pPr lvl="1" marL="596900" indent="-317500">
              <a:spcBef>
                <a:spcPts val="1200"/>
              </a:spcBef>
              <a:buClr>
                <a:srgbClr val="000000"/>
              </a:buClr>
              <a:buFont typeface="Times Roman"/>
              <a:buChar char="•"/>
              <a:defRPr sz="2300"/>
            </a:pPr>
            <a:r>
              <a:t>z. B. Node-Upgrades, Rollouts, Autoscaling</a:t>
            </a:r>
          </a:p>
          <a:p>
            <a:pPr marL="320842" indent="-320842">
              <a:spcBef>
                <a:spcPts val="1200"/>
              </a:spcBef>
              <a:buFontTx/>
              <a:defRPr sz="2300"/>
            </a:pPr>
            <a:r>
              <a:t>Erzwingen eine Mindestverfügbarkeit</a:t>
            </a:r>
          </a:p>
          <a:p>
            <a:pPr marL="320842" indent="-320842">
              <a:spcBef>
                <a:spcPts val="1200"/>
              </a:spcBef>
              <a:buFontTx/>
              <a:defRPr sz="2300"/>
            </a:pPr>
            <a:r>
              <a:t>Verhindern kompletten Ausfall bei Wartungsarbeiten</a:t>
            </a:r>
          </a:p>
        </p:txBody>
      </p:sp>
      <p:sp>
        <p:nvSpPr>
          <p:cNvPr id="173" name="apiVersion: policy/v1…"/>
          <p:cNvSpPr txBox="1"/>
          <p:nvPr/>
        </p:nvSpPr>
        <p:spPr>
          <a:xfrm>
            <a:off x="3009063" y="4072580"/>
            <a:ext cx="2598202" cy="2669888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apiVersion: policy/v1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kind: PodDisruptionBudget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metadata: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  name: web-app-pdb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spec: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  minAvailable: 2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  selector: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    matchLabels: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      app: web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97763">
              <a:defRPr sz="3828"/>
            </a:lvl1pPr>
          </a:lstStyle>
          <a:p>
            <a:pPr/>
            <a:r>
              <a:t>Skalierung in Kubernetes – Pods &amp; Nodes</a:t>
            </a:r>
          </a:p>
        </p:txBody>
      </p:sp>
      <p:sp>
        <p:nvSpPr>
          <p:cNvPr id="176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 defTabSz="274320">
              <a:spcBef>
                <a:spcPts val="800"/>
              </a:spcBef>
              <a:buSzTx/>
              <a:buFontTx/>
              <a:buNone/>
              <a:defRPr b="1" sz="1920"/>
            </a:pPr>
            <a:r>
              <a:t>Horizontal Pod Autoscaler (HPA)</a:t>
            </a:r>
          </a:p>
          <a:p>
            <a:pPr marL="274320" indent="-190500" defTabSz="274320">
              <a:buClr>
                <a:srgbClr val="000000"/>
              </a:buClr>
              <a:buFont typeface="Times Roman"/>
              <a:defRPr sz="1920"/>
            </a:pPr>
            <a:r>
              <a:t>Skaliert Pod-Replikas</a:t>
            </a:r>
          </a:p>
          <a:p>
            <a:pPr marL="274320" indent="-190500" defTabSz="274320">
              <a:buClr>
                <a:srgbClr val="000000"/>
              </a:buClr>
              <a:buFont typeface="Times Roman"/>
              <a:defRPr sz="1920"/>
            </a:pPr>
            <a:r>
              <a:t>Reagiert auf Metriken</a:t>
            </a:r>
          </a:p>
          <a:p>
            <a:pPr lvl="1" marL="548640" indent="-190500" defTabSz="274320">
              <a:buClr>
                <a:srgbClr val="000000"/>
              </a:buClr>
              <a:buFont typeface="Times Roman"/>
              <a:buChar char="◦"/>
              <a:defRPr sz="1920"/>
            </a:pPr>
            <a:r>
              <a:t>z. B. CPU, Memory, Custom Metrics</a:t>
            </a:r>
          </a:p>
          <a:p>
            <a:pPr marL="274320" indent="-190500" defTabSz="274320">
              <a:buClr>
                <a:srgbClr val="000000"/>
              </a:buClr>
              <a:buFont typeface="Times Roman"/>
              <a:defRPr sz="1920"/>
            </a:pPr>
            <a:r>
              <a:t>Wirkt auf Deployments / Services</a:t>
            </a:r>
          </a:p>
          <a:p>
            <a:pPr marL="274320" indent="-190500" defTabSz="274320">
              <a:buClr>
                <a:srgbClr val="000000"/>
              </a:buClr>
              <a:buFont typeface="Times Roman"/>
              <a:defRPr sz="1920"/>
            </a:pPr>
            <a:r>
              <a:t>Reagiert schnell auf Laständerungen</a:t>
            </a:r>
          </a:p>
          <a:p>
            <a:pPr marL="0" indent="0" defTabSz="274320">
              <a:spcBef>
                <a:spcPts val="0"/>
              </a:spcBef>
              <a:buSzTx/>
              <a:buFontTx/>
              <a:buNone/>
              <a:defRPr sz="1920">
                <a:solidFill>
                  <a:srgbClr val="808080"/>
                </a:solidFill>
              </a:defRPr>
            </a:pPr>
          </a:p>
          <a:p>
            <a:pPr marL="0" indent="0" defTabSz="274320">
              <a:spcBef>
                <a:spcPts val="800"/>
              </a:spcBef>
              <a:buSzTx/>
              <a:buFontTx/>
              <a:buNone/>
              <a:defRPr b="1" sz="1920"/>
            </a:pPr>
            <a:r>
              <a:t>Node Autoscaler</a:t>
            </a:r>
          </a:p>
          <a:p>
            <a:pPr marL="274320" indent="-190500" defTabSz="274320">
              <a:buClr>
                <a:srgbClr val="000000"/>
              </a:buClr>
              <a:buFont typeface="Times Roman"/>
              <a:defRPr sz="1920"/>
            </a:pPr>
            <a:r>
              <a:t>Skaliert Worker Nodes</a:t>
            </a:r>
          </a:p>
          <a:p>
            <a:pPr marL="274320" indent="-190500" defTabSz="274320">
              <a:buClr>
                <a:srgbClr val="000000"/>
              </a:buClr>
              <a:buFont typeface="Times Roman"/>
              <a:defRPr sz="1920"/>
            </a:pPr>
            <a:r>
              <a:t>Reagiert auf Pending Pods</a:t>
            </a:r>
          </a:p>
          <a:p>
            <a:pPr marL="274320" indent="-190500" defTabSz="274320">
              <a:buClr>
                <a:srgbClr val="000000"/>
              </a:buClr>
              <a:buFont typeface="Times Roman"/>
              <a:defRPr sz="1920"/>
            </a:pPr>
            <a:r>
              <a:t>Stellt zusätzliche Ressourcen bereit</a:t>
            </a:r>
          </a:p>
          <a:p>
            <a:pPr marL="274320" indent="-190500" defTabSz="274320">
              <a:buClr>
                <a:srgbClr val="000000"/>
              </a:buClr>
              <a:buFont typeface="Times Roman"/>
              <a:defRPr sz="1920"/>
            </a:pPr>
            <a:r>
              <a:t>Arbeitet im Hintergrund, langsamer als HPA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Zusammenfassung</a:t>
            </a:r>
          </a:p>
        </p:txBody>
      </p:sp>
      <p:sp>
        <p:nvSpPr>
          <p:cNvPr id="17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 defTabSz="370331">
              <a:spcBef>
                <a:spcPts val="900"/>
              </a:spcBef>
              <a:buSzTx/>
              <a:buFontTx/>
              <a:buNone/>
              <a:defRPr b="1" sz="2592"/>
            </a:pPr>
            <a:r>
              <a:t>Container</a:t>
            </a:r>
          </a:p>
          <a:p>
            <a:pPr marL="370331" indent="-257175" defTabSz="370331">
              <a:spcBef>
                <a:spcPts val="900"/>
              </a:spcBef>
              <a:buClr>
                <a:srgbClr val="000000"/>
              </a:buClr>
              <a:buFont typeface="Times Roman"/>
              <a:defRPr sz="2592"/>
            </a:pPr>
            <a:r>
              <a:t>Leichtgewichtige, portable Laufzeit für Anwendungen</a:t>
            </a:r>
          </a:p>
          <a:p>
            <a:pPr marL="370331" indent="-257175" defTabSz="370331">
              <a:spcBef>
                <a:spcPts val="900"/>
              </a:spcBef>
              <a:buClr>
                <a:srgbClr val="000000"/>
              </a:buClr>
              <a:buFont typeface="Times Roman"/>
              <a:defRPr sz="2592"/>
            </a:pPr>
            <a:r>
              <a:t>Teilen sich den Kernel des Host-Systems</a:t>
            </a:r>
          </a:p>
          <a:p>
            <a:pPr marL="0" indent="0" defTabSz="370331">
              <a:spcBef>
                <a:spcPts val="900"/>
              </a:spcBef>
              <a:buSzTx/>
              <a:buFontTx/>
              <a:buNone/>
              <a:defRPr b="1" sz="2592"/>
            </a:pPr>
            <a:r>
              <a:t>Kubernetes</a:t>
            </a:r>
          </a:p>
          <a:p>
            <a:pPr marL="370331" indent="-257175" defTabSz="370331">
              <a:spcBef>
                <a:spcPts val="900"/>
              </a:spcBef>
              <a:buClr>
                <a:srgbClr val="000000"/>
              </a:buClr>
              <a:buFont typeface="Times Roman"/>
              <a:defRPr sz="2592"/>
            </a:pPr>
            <a:r>
              <a:t>Orchestriert Container im Cluster</a:t>
            </a:r>
          </a:p>
          <a:p>
            <a:pPr marL="370331" indent="-257175" defTabSz="370331">
              <a:spcBef>
                <a:spcPts val="900"/>
              </a:spcBef>
              <a:buClr>
                <a:srgbClr val="000000"/>
              </a:buClr>
              <a:buFont typeface="Times Roman"/>
              <a:defRPr sz="2592"/>
            </a:pPr>
            <a:r>
              <a:t>Automatisiert Deployment, Betrieb und Skalierung</a:t>
            </a:r>
          </a:p>
          <a:p>
            <a:pPr marL="370331" indent="-257175" defTabSz="370331">
              <a:spcBef>
                <a:spcPts val="900"/>
              </a:spcBef>
              <a:buClr>
                <a:srgbClr val="000000"/>
              </a:buClr>
              <a:buFont typeface="Times Roman"/>
              <a:defRPr sz="2592"/>
            </a:pPr>
            <a:r>
              <a:t>Gewünschter Zustand statt manueller Schritte (Deklarativ)</a:t>
            </a:r>
          </a:p>
          <a:p>
            <a:pPr marL="370331" indent="-257175" defTabSz="370331">
              <a:spcBef>
                <a:spcPts val="900"/>
              </a:spcBef>
              <a:buClr>
                <a:srgbClr val="000000"/>
              </a:buClr>
              <a:buFont typeface="Times Roman"/>
              <a:defRPr sz="2592"/>
            </a:pPr>
            <a:r>
              <a:t>Self-Healing, Load Balancing, Konfiguration &amp; Autoscaling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